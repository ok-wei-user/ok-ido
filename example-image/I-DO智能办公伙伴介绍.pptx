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handoutMaster" Target="handoutMasters/handoutMaster1.xml"/><Relationship Id="rId16" Type="http://schemas.openxmlformats.org/officeDocument/2006/relationships/notesMaster" Target="notesMasters/notesMaster1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943" y="1143000"/>
            <a:ext cx="5486114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1" Type="http://schemas.openxmlformats.org/officeDocument/2006/relationships/slideLayout" Target="../slideLayouts/slideLayout7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19.xml"/><Relationship Id="rId8" Type="http://schemas.openxmlformats.org/officeDocument/2006/relationships/tags" Target="../tags/tag18.xml"/><Relationship Id="rId7" Type="http://schemas.openxmlformats.org/officeDocument/2006/relationships/tags" Target="../tags/tag17.xml"/><Relationship Id="rId6" Type="http://schemas.openxmlformats.org/officeDocument/2006/relationships/tags" Target="../tags/tag16.xml"/><Relationship Id="rId5" Type="http://schemas.openxmlformats.org/officeDocument/2006/relationships/tags" Target="../tags/tag15.xml"/><Relationship Id="rId4" Type="http://schemas.openxmlformats.org/officeDocument/2006/relationships/tags" Target="../tags/tag14.xml"/><Relationship Id="rId30" Type="http://schemas.openxmlformats.org/officeDocument/2006/relationships/slideLayout" Target="../slideLayouts/slideLayout7.xml"/><Relationship Id="rId3" Type="http://schemas.openxmlformats.org/officeDocument/2006/relationships/tags" Target="../tags/tag13.xml"/><Relationship Id="rId29" Type="http://schemas.openxmlformats.org/officeDocument/2006/relationships/tags" Target="../tags/tag39.xml"/><Relationship Id="rId28" Type="http://schemas.openxmlformats.org/officeDocument/2006/relationships/tags" Target="../tags/tag38.xml"/><Relationship Id="rId27" Type="http://schemas.openxmlformats.org/officeDocument/2006/relationships/tags" Target="../tags/tag37.xml"/><Relationship Id="rId26" Type="http://schemas.openxmlformats.org/officeDocument/2006/relationships/tags" Target="../tags/tag36.xml"/><Relationship Id="rId25" Type="http://schemas.openxmlformats.org/officeDocument/2006/relationships/tags" Target="../tags/tag35.xml"/><Relationship Id="rId24" Type="http://schemas.openxmlformats.org/officeDocument/2006/relationships/tags" Target="../tags/tag34.xml"/><Relationship Id="rId23" Type="http://schemas.openxmlformats.org/officeDocument/2006/relationships/tags" Target="../tags/tag33.xml"/><Relationship Id="rId22" Type="http://schemas.openxmlformats.org/officeDocument/2006/relationships/tags" Target="../tags/tag32.xml"/><Relationship Id="rId21" Type="http://schemas.openxmlformats.org/officeDocument/2006/relationships/tags" Target="../tags/tag31.xml"/><Relationship Id="rId20" Type="http://schemas.openxmlformats.org/officeDocument/2006/relationships/tags" Target="../tags/tag30.xml"/><Relationship Id="rId2" Type="http://schemas.openxmlformats.org/officeDocument/2006/relationships/tags" Target="../tags/tag12.xml"/><Relationship Id="rId19" Type="http://schemas.openxmlformats.org/officeDocument/2006/relationships/tags" Target="../tags/tag29.xml"/><Relationship Id="rId18" Type="http://schemas.openxmlformats.org/officeDocument/2006/relationships/tags" Target="../tags/tag28.xml"/><Relationship Id="rId17" Type="http://schemas.openxmlformats.org/officeDocument/2006/relationships/tags" Target="../tags/tag27.xml"/><Relationship Id="rId16" Type="http://schemas.openxmlformats.org/officeDocument/2006/relationships/tags" Target="../tags/tag26.xml"/><Relationship Id="rId15" Type="http://schemas.openxmlformats.org/officeDocument/2006/relationships/tags" Target="../tags/tag25.xml"/><Relationship Id="rId14" Type="http://schemas.openxmlformats.org/officeDocument/2006/relationships/tags" Target="../tags/tag24.xml"/><Relationship Id="rId13" Type="http://schemas.openxmlformats.org/officeDocument/2006/relationships/tags" Target="../tags/tag23.xml"/><Relationship Id="rId12" Type="http://schemas.openxmlformats.org/officeDocument/2006/relationships/tags" Target="../tags/tag22.xml"/><Relationship Id="rId11" Type="http://schemas.openxmlformats.org/officeDocument/2006/relationships/tags" Target="../tags/tag21.xml"/><Relationship Id="rId10" Type="http://schemas.openxmlformats.org/officeDocument/2006/relationships/tags" Target="../tags/tag20.xml"/><Relationship Id="rId1" Type="http://schemas.openxmlformats.org/officeDocument/2006/relationships/tags" Target="../tags/tag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480560"/>
            <a:ext cx="12191695" cy="73152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875520" y="731520"/>
            <a:ext cx="2194560" cy="2194560"/>
          </a:xfrm>
          <a:prstGeom prst="ellipse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881360" y="5303520"/>
            <a:ext cx="1280160" cy="1280160"/>
          </a:xfrm>
          <a:prstGeom prst="ellipse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10058400" cy="1153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6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I-DO</a:t>
            </a:r>
            <a:endParaRPr sz="6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14400" y="265176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400" b="0">
                <a:solidFill>
                  <a:srgbClr val="BDD7EE"/>
                </a:solidFill>
                <a:latin typeface="微软雅黑" panose="020B0503020204020204" charset="-122"/>
                <a:ea typeface="微软雅黑" panose="020B0503020204020204" charset="-122"/>
              </a:rPr>
              <a:t>您的智能办公伙伴 —— 核心能力 · 工作范围 · 协作模式</a:t>
            </a:r>
            <a:endParaRPr sz="2400" b="0">
              <a:solidFill>
                <a:srgbClr val="BDD7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14400" y="4846320"/>
            <a:ext cx="10058400" cy="3740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出品方：YES-IDO</a:t>
            </a:r>
            <a:endParaRPr sz="16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14400" y="52578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F39C12"/>
                </a:solidFill>
                <a:latin typeface="微软雅黑" panose="020B0503020204020204" charset="-122"/>
                <a:ea typeface="微软雅黑" panose="020B0503020204020204" charset="-122"/>
              </a:rPr>
              <a:t>让办公更高效 · 让决策更智慧</a:t>
            </a:r>
            <a:endParaRPr sz="1600" b="1">
              <a:solidFill>
                <a:srgbClr val="F39C1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48640"/>
            <a:ext cx="5486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40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目录</a:t>
            </a:r>
            <a:endParaRPr sz="40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7315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2E86C1"/>
                </a:solidFill>
                <a:latin typeface="微软雅黑" panose="020B0503020204020204" charset="-122"/>
                <a:ea typeface="微软雅黑" panose="020B0503020204020204" charset="-122"/>
              </a:rPr>
              <a:t>CONTENTS</a:t>
            </a:r>
            <a:endParaRPr sz="1600" b="0">
              <a:solidFill>
                <a:srgbClr val="2E86C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22960" y="1965960"/>
            <a:ext cx="10515600" cy="804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D8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>
            <p:custDataLst>
              <p:tags r:id="rId1"/>
            </p:custDataLst>
          </p:nvPr>
        </p:nvSpPr>
        <p:spPr>
          <a:xfrm>
            <a:off x="1097280" y="1965960"/>
            <a:ext cx="1097280" cy="8046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39C12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sz="2800" b="1">
              <a:solidFill>
                <a:srgbClr val="F39C1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>
            <p:custDataLst>
              <p:tags r:id="rId2"/>
            </p:custDataLst>
          </p:nvPr>
        </p:nvSpPr>
        <p:spPr>
          <a:xfrm>
            <a:off x="2377440" y="2128266"/>
            <a:ext cx="4572000" cy="4800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认识I-DO</a:t>
            </a:r>
            <a:endParaRPr sz="22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949440" y="1965960"/>
            <a:ext cx="4206240" cy="8046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</a:rPr>
              <a:t>我是谁 · 定位与能力底座</a:t>
            </a:r>
            <a:endParaRPr sz="13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22960" y="2898648"/>
            <a:ext cx="10515600" cy="804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D8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>
            <p:custDataLst>
              <p:tags r:id="rId3"/>
            </p:custDataLst>
          </p:nvPr>
        </p:nvSpPr>
        <p:spPr>
          <a:xfrm>
            <a:off x="1097280" y="2898648"/>
            <a:ext cx="1097280" cy="8046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39C12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sz="2800" b="1">
              <a:solidFill>
                <a:srgbClr val="F39C1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>
            <p:custDataLst>
              <p:tags r:id="rId4"/>
            </p:custDataLst>
          </p:nvPr>
        </p:nvSpPr>
        <p:spPr>
          <a:xfrm>
            <a:off x="2377440" y="2898648"/>
            <a:ext cx="4572000" cy="8046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核心能力介绍</a:t>
            </a:r>
            <a:endParaRPr sz="22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949440" y="2898648"/>
            <a:ext cx="4206240" cy="8046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</a:rPr>
              <a:t>信息收集 · 数据分析 · 深度研究 · 编程 · 工具集成</a:t>
            </a:r>
            <a:endParaRPr sz="13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822960" y="3831336"/>
            <a:ext cx="10515600" cy="804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D8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>
            <p:custDataLst>
              <p:tags r:id="rId5"/>
            </p:custDataLst>
          </p:nvPr>
        </p:nvSpPr>
        <p:spPr>
          <a:xfrm>
            <a:off x="1097280" y="3831336"/>
            <a:ext cx="1097280" cy="8046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39C12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sz="2800" b="1">
              <a:solidFill>
                <a:srgbClr val="F39C1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>
            <p:custDataLst>
              <p:tags r:id="rId6"/>
            </p:custDataLst>
          </p:nvPr>
        </p:nvSpPr>
        <p:spPr>
          <a:xfrm>
            <a:off x="2377440" y="3831336"/>
            <a:ext cx="4572000" cy="8046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可处理的工作类型</a:t>
            </a:r>
            <a:endParaRPr sz="22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949440" y="3831336"/>
            <a:ext cx="4206240" cy="8046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</a:rPr>
              <a:t>报告文书 · 数据表格 · 演示展示 · 检索核查 · 专业查询</a:t>
            </a:r>
            <a:endParaRPr sz="13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22960" y="4764024"/>
            <a:ext cx="10515600" cy="804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D8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>
            <p:custDataLst>
              <p:tags r:id="rId7"/>
            </p:custDataLst>
          </p:nvPr>
        </p:nvSpPr>
        <p:spPr>
          <a:xfrm>
            <a:off x="1097280" y="4764024"/>
            <a:ext cx="1097280" cy="8046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39C12"/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  <a:endParaRPr sz="2800" b="1">
              <a:solidFill>
                <a:srgbClr val="F39C1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>
            <p:custDataLst>
              <p:tags r:id="rId8"/>
            </p:custDataLst>
          </p:nvPr>
        </p:nvSpPr>
        <p:spPr>
          <a:xfrm>
            <a:off x="2377440" y="4764024"/>
            <a:ext cx="4572000" cy="8046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办公场景协作模式</a:t>
            </a:r>
            <a:endParaRPr sz="22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949440" y="4764024"/>
            <a:ext cx="4206240" cy="8046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</a:rPr>
              <a:t>对话下达 · 成果交付 · 主动超越 · 异步协作 · 边界澄清</a:t>
            </a:r>
            <a:endParaRPr sz="13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822960" y="5696712"/>
            <a:ext cx="10515600" cy="804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D8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>
            <p:custDataLst>
              <p:tags r:id="rId9"/>
            </p:custDataLst>
          </p:nvPr>
        </p:nvSpPr>
        <p:spPr>
          <a:xfrm>
            <a:off x="1097280" y="5696712"/>
            <a:ext cx="1097280" cy="8046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39C12"/>
                </a:solidFill>
                <a:latin typeface="微软雅黑" panose="020B0503020204020204" charset="-122"/>
                <a:ea typeface="微软雅黑" panose="020B0503020204020204" charset="-122"/>
              </a:rPr>
              <a:t>05</a:t>
            </a:r>
            <a:endParaRPr sz="2800" b="1">
              <a:solidFill>
                <a:srgbClr val="F39C1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>
            <p:custDataLst>
              <p:tags r:id="rId10"/>
            </p:custDataLst>
          </p:nvPr>
        </p:nvSpPr>
        <p:spPr>
          <a:xfrm>
            <a:off x="2377440" y="5696712"/>
            <a:ext cx="4572000" cy="8046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总结与展望</a:t>
            </a:r>
            <a:endParaRPr sz="22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949440" y="5696712"/>
            <a:ext cx="4206240" cy="8046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</a:rPr>
              <a:t>价值承诺与下一步</a:t>
            </a:r>
            <a:endParaRPr sz="13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6583680"/>
            <a:ext cx="7315200" cy="26797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</a:rPr>
              <a:t>I-DO · 智能办公伙伴介绍</a:t>
            </a:r>
            <a:endParaRPr sz="10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0607040" y="658368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sz="10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5778"/>
            <a:ext cx="10972800" cy="622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01  认识I-DO</a:t>
            </a:r>
            <a:endParaRPr sz="3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120700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</a:rPr>
              <a:t>我是谁 · 定位与能力底座</a:t>
            </a:r>
            <a:endParaRPr sz="14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48640" y="1417320"/>
            <a:ext cx="11064240" cy="1051560"/>
          </a:xfrm>
          <a:prstGeom prst="roundRect">
            <a:avLst>
              <a:gd name="adj" fmla="val 8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1305"/>
            <a:ext cx="10332720" cy="78359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I-DO是由「YES-IDO」创建的 AI 智能体：专长于信息收集、事实核查、数据分析、文档撰写与深度研究，是办公场景下可靠的智能助手。</a:t>
            </a:r>
            <a:endParaRPr sz="18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48640" y="2743200"/>
            <a:ext cx="356616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D8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743200"/>
            <a:ext cx="3566160" cy="82296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97180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任务执行者</a:t>
            </a:r>
            <a:endParaRPr sz="20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3520440"/>
            <a:ext cx="31089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亲自执行任务、直接交付最终成果，而非只给出建议清单或计划。</a:t>
            </a:r>
            <a:endParaRPr sz="13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315968" y="2743200"/>
            <a:ext cx="356616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D8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15968" y="2743200"/>
            <a:ext cx="3566160" cy="82296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4568" y="297180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全栈信息处理</a:t>
            </a:r>
            <a:endParaRPr sz="20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544568" y="3520440"/>
            <a:ext cx="31089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覆盖信息采集 → 加工提炼 → 多格式成果输出的一整条处理链路。</a:t>
            </a:r>
            <a:endParaRPr sz="13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083296" y="2743200"/>
            <a:ext cx="356616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D8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83296" y="2743200"/>
            <a:ext cx="3566160" cy="82296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11896" y="297180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多工具协作</a:t>
            </a:r>
            <a:endParaRPr sz="20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311896" y="3520440"/>
            <a:ext cx="31089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拥有沙箱环境、浏览器、专业 MCP 工具与远程 Agent 编排能力。</a:t>
            </a:r>
            <a:endParaRPr sz="13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48640" y="470916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五大能力支柱</a:t>
            </a:r>
            <a:endParaRPr sz="18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548640" y="5257800"/>
            <a:ext cx="3566160" cy="548640"/>
          </a:xfrm>
          <a:prstGeom prst="roundRect">
            <a:avLst>
              <a:gd name="adj" fmla="val 8000"/>
            </a:avLst>
          </a:prstGeom>
          <a:solidFill>
            <a:srgbClr val="E8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5257800"/>
            <a:ext cx="3200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1 · 信息收集 · 事实核查 · 文档撰写</a:t>
            </a:r>
            <a:endParaRPr sz="13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4315968" y="5257800"/>
            <a:ext cx="3566160" cy="548640"/>
          </a:xfrm>
          <a:prstGeom prst="roundRect">
            <a:avLst>
              <a:gd name="adj" fmla="val 8000"/>
            </a:avLst>
          </a:prstGeom>
          <a:solidFill>
            <a:srgbClr val="E8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44568" y="5257800"/>
            <a:ext cx="3200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2 · 数据处理 · 分析 · 可视化</a:t>
            </a:r>
            <a:endParaRPr sz="13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8083296" y="5257800"/>
            <a:ext cx="3566160" cy="548640"/>
          </a:xfrm>
          <a:prstGeom prst="roundRect">
            <a:avLst>
              <a:gd name="adj" fmla="val 8000"/>
            </a:avLst>
          </a:prstGeom>
          <a:solidFill>
            <a:srgbClr val="E8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11896" y="5257800"/>
            <a:ext cx="3200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3 · 多章节长文 · 深度研究报告</a:t>
            </a:r>
            <a:endParaRPr sz="13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548640" y="5916168"/>
            <a:ext cx="3566160" cy="548640"/>
          </a:xfrm>
          <a:prstGeom prst="roundRect">
            <a:avLst>
              <a:gd name="adj" fmla="val 8000"/>
            </a:avLst>
          </a:prstGeom>
          <a:solidFill>
            <a:srgbClr val="E8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5916168"/>
            <a:ext cx="3200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4 · 编程解决各类问题</a:t>
            </a:r>
            <a:endParaRPr sz="13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4315968" y="5916168"/>
            <a:ext cx="3566160" cy="548640"/>
          </a:xfrm>
          <a:prstGeom prst="roundRect">
            <a:avLst>
              <a:gd name="adj" fmla="val 8000"/>
            </a:avLst>
          </a:prstGeom>
          <a:solidFill>
            <a:srgbClr val="E8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44568" y="5916168"/>
            <a:ext cx="3200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5 · 通过计算机与互联网完成各类任务</a:t>
            </a:r>
            <a:endParaRPr sz="13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6583680"/>
            <a:ext cx="7315200" cy="26797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</a:rPr>
              <a:t>I-DO · 智能办公伙伴介绍</a:t>
            </a:r>
            <a:endParaRPr sz="10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0607040" y="658368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sz="10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02  核心能力介绍</a:t>
            </a:r>
            <a:endParaRPr sz="3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120700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</a:rPr>
              <a:t>五大能力支柱全景</a:t>
            </a:r>
            <a:endParaRPr sz="14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48640" y="1417320"/>
            <a:ext cx="53949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D8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417320"/>
            <a:ext cx="109728" cy="13716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00200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① 信息收集与文档撰写</a:t>
            </a:r>
            <a:endParaRPr sz="19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14400" y="2130552"/>
            <a:ext cx="4754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全网搜索 · 事实核查 · 专业文档</a:t>
            </a:r>
            <a:endParaRPr sz="13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949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D8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417320"/>
            <a:ext cx="109728" cy="137160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1600200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>
                <a:solidFill>
                  <a:srgbClr val="2E86C1"/>
                </a:solidFill>
                <a:latin typeface="微软雅黑" panose="020B0503020204020204" charset="-122"/>
                <a:ea typeface="微软雅黑" panose="020B0503020204020204" charset="-122"/>
              </a:rPr>
              <a:t>② 数据处理与可视化</a:t>
            </a:r>
            <a:endParaRPr sz="1900" b="1">
              <a:solidFill>
                <a:srgbClr val="2E86C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629400" y="2130552"/>
            <a:ext cx="4754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表格处理 · 统计分析 · 图表绘制</a:t>
            </a:r>
            <a:endParaRPr sz="13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548640" y="3017520"/>
            <a:ext cx="53949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D8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017520"/>
            <a:ext cx="109728" cy="13716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200400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③ 深度研究与报告</a:t>
            </a:r>
            <a:endParaRPr sz="19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14400" y="3730752"/>
            <a:ext cx="4754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多轮递归搜索 · 洞察抽取 · 结构化报告</a:t>
            </a:r>
            <a:endParaRPr sz="13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263640" y="3017520"/>
            <a:ext cx="53949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D8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63640" y="3017520"/>
            <a:ext cx="109728" cy="137160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29400" y="3200400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>
                <a:solidFill>
                  <a:srgbClr val="2E86C1"/>
                </a:solidFill>
                <a:latin typeface="微软雅黑" panose="020B0503020204020204" charset="-122"/>
                <a:ea typeface="微软雅黑" panose="020B0503020204020204" charset="-122"/>
              </a:rPr>
              <a:t>④ 编程解决问题</a:t>
            </a:r>
            <a:endParaRPr sz="1900" b="1">
              <a:solidFill>
                <a:srgbClr val="2E86C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629400" y="3730752"/>
            <a:ext cx="4754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自动化 · 格式转换 · 数据管道</a:t>
            </a:r>
            <a:endParaRPr sz="13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548640" y="4617720"/>
            <a:ext cx="110642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D8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4617720"/>
            <a:ext cx="109728" cy="1371600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800600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>
                <a:solidFill>
                  <a:srgbClr val="F39C12"/>
                </a:solidFill>
                <a:latin typeface="微软雅黑" panose="020B0503020204020204" charset="-122"/>
                <a:ea typeface="微软雅黑" panose="020B0503020204020204" charset="-122"/>
              </a:rPr>
              <a:t>⑤ 专业工具集成</a:t>
            </a:r>
            <a:endParaRPr sz="1900" b="1">
              <a:solidFill>
                <a:srgbClr val="F39C1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914400" y="5330952"/>
            <a:ext cx="10424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地图/天气 · OCR/语音/视觉 · 业务系统</a:t>
            </a:r>
            <a:endParaRPr sz="13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48640" y="61722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</a:rPr>
              <a:t>每项能力均有工具支撑：search_web / deep_research / Python / MCP 专业工具</a:t>
            </a:r>
            <a:endParaRPr sz="12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6583680"/>
            <a:ext cx="7315200" cy="26797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</a:rPr>
              <a:t>I-DO · 智能办公伙伴介绍</a:t>
            </a:r>
            <a:endParaRPr sz="10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0607040" y="658368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  <a:endParaRPr sz="10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能力详解 ①  信息收集与文档撰写</a:t>
            </a:r>
            <a:endParaRPr sz="3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11064240" cy="1024128"/>
          </a:xfrm>
          <a:prstGeom prst="roundRect">
            <a:avLst>
              <a:gd name="adj" fmla="val 8000"/>
            </a:avLst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91056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全网信息检索</a:t>
            </a:r>
            <a:endParaRPr sz="18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023360" y="1572768"/>
            <a:ext cx="7315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使用专业搜索工具获取实时资讯、权威数据，并访问原始页面交叉验证。</a:t>
            </a:r>
            <a:endParaRPr sz="14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48640" y="2633472"/>
            <a:ext cx="11064240" cy="1024128"/>
          </a:xfrm>
          <a:prstGeom prst="roundRect">
            <a:avLst>
              <a:gd name="adj" fmla="val 8000"/>
            </a:avLst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761488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事实核查</a:t>
            </a:r>
            <a:endParaRPr sz="18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023360" y="2743200"/>
            <a:ext cx="7315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多源比对、识别权威来源，标注信息时效性与覆盖范围。</a:t>
            </a:r>
            <a:endParaRPr sz="14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48640" y="3803904"/>
            <a:ext cx="11064240" cy="1024128"/>
          </a:xfrm>
          <a:prstGeom prst="roundRect">
            <a:avLst>
              <a:gd name="adj" fmla="val 8000"/>
            </a:avLst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931920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专业文档撰写</a:t>
            </a:r>
            <a:endParaRPr sz="18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023360" y="3913632"/>
            <a:ext cx="7315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报告、备忘录、方案、说明文档，结构化呈现，附参考文献列表。</a:t>
            </a:r>
            <a:endParaRPr sz="14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548640" y="4974336"/>
            <a:ext cx="11064240" cy="1024128"/>
          </a:xfrm>
          <a:prstGeom prst="roundRect">
            <a:avLst>
              <a:gd name="adj" fmla="val 8000"/>
            </a:avLst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102352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多章节长文</a:t>
            </a:r>
            <a:endParaRPr sz="18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023360" y="5084064"/>
            <a:ext cx="7315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分章起草、逐章合并，产出数千字级别的高质量长文。</a:t>
            </a:r>
            <a:endParaRPr sz="14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6583680"/>
            <a:ext cx="7315200" cy="26797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</a:rPr>
              <a:t>I-DO · 智能办公伙伴介绍</a:t>
            </a:r>
            <a:endParaRPr sz="10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0607040" y="658368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</a:rPr>
              <a:t>05</a:t>
            </a:r>
            <a:endParaRPr sz="10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能力详解 ②  数据处理与可视化</a:t>
            </a:r>
            <a:endParaRPr sz="3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11064240" cy="1024128"/>
          </a:xfrm>
          <a:prstGeom prst="roundRect">
            <a:avLst>
              <a:gd name="adj" fmla="val 8000"/>
            </a:avLst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91056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表格深度处理</a:t>
            </a:r>
            <a:endParaRPr sz="18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023360" y="1572768"/>
            <a:ext cx="7315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Excel 清洗、合并、公式计算、格式美化；CSV/TSV 等格式互转。</a:t>
            </a:r>
            <a:endParaRPr sz="14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48640" y="2633472"/>
            <a:ext cx="11064240" cy="1024128"/>
          </a:xfrm>
          <a:prstGeom prst="roundRect">
            <a:avLst>
              <a:gd name="adj" fmla="val 8000"/>
            </a:avLst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761488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统计分析</a:t>
            </a:r>
            <a:endParaRPr sz="18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023360" y="2743200"/>
            <a:ext cx="7315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基于 pandas / numpy / scipy / sklearn 的统计测算、趋势分析与建模。</a:t>
            </a:r>
            <a:endParaRPr sz="14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48640" y="3803904"/>
            <a:ext cx="11064240" cy="1024128"/>
          </a:xfrm>
          <a:prstGeom prst="roundRect">
            <a:avLst>
              <a:gd name="adj" fmla="val 8000"/>
            </a:avLst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931920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可视化图表</a:t>
            </a:r>
            <a:endParaRPr sz="18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023360" y="3913632"/>
            <a:ext cx="7315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柱状图、折线图、饼图等专业图表，中文显示，适配文档嵌入。</a:t>
            </a:r>
            <a:endParaRPr sz="14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548640" y="4974336"/>
            <a:ext cx="11064240" cy="1024128"/>
          </a:xfrm>
          <a:prstGeom prst="roundRect">
            <a:avLst>
              <a:gd name="adj" fmla="val 8000"/>
            </a:avLst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102352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多交付物互补</a:t>
            </a:r>
            <a:endParaRPr sz="18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023360" y="5084064"/>
            <a:ext cx="7315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报告 docx + 数据表 xlsx + 关键图表 png 组合交付，互为补充。</a:t>
            </a:r>
            <a:endParaRPr sz="14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6583680"/>
            <a:ext cx="7315200" cy="26797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</a:rPr>
              <a:t>I-DO · 智能办公伙伴介绍</a:t>
            </a:r>
            <a:endParaRPr sz="10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0607040" y="658368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</a:rPr>
              <a:t>06</a:t>
            </a:r>
            <a:endParaRPr sz="10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能力详解 ③  深度研究与编程</a:t>
            </a:r>
            <a:endParaRPr sz="3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11064240" cy="1024128"/>
          </a:xfrm>
          <a:prstGeom prst="roundRect">
            <a:avLst>
              <a:gd name="adj" fmla="val 8000"/>
            </a:avLst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91056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深度研究引擎</a:t>
            </a:r>
            <a:endParaRPr sz="17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206240" y="1572768"/>
            <a:ext cx="71323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deep_research 自动执行多轮递归搜索 + 网页正文抓取 + 洞察抽取，产出分档研究摘要。</a:t>
            </a:r>
            <a:endParaRPr sz="135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48640" y="2633472"/>
            <a:ext cx="11064240" cy="1024128"/>
          </a:xfrm>
          <a:prstGeom prst="roundRect">
            <a:avLst>
              <a:gd name="adj" fmla="val 8000"/>
            </a:avLst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761488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结构化研究报告</a:t>
            </a:r>
            <a:endParaRPr sz="17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206240" y="2743200"/>
            <a:ext cx="71323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执行摘要、关键发现、详细结果、后续建议四段式结构，量化指标呈现。</a:t>
            </a:r>
            <a:endParaRPr sz="135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48640" y="3803904"/>
            <a:ext cx="11064240" cy="1024128"/>
          </a:xfrm>
          <a:prstGeom prst="roundRect">
            <a:avLst>
              <a:gd name="adj" fmla="val 8000"/>
            </a:avLst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93192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编程自动化</a:t>
            </a:r>
            <a:endParaRPr sz="17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206240" y="3913632"/>
            <a:ext cx="71323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Python / Shell / Node.js 批量处理、数据管道搭建、网页抓取、接口调用。</a:t>
            </a:r>
            <a:endParaRPr sz="135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548640" y="4974336"/>
            <a:ext cx="11064240" cy="1024128"/>
          </a:xfrm>
          <a:prstGeom prst="roundRect">
            <a:avLst>
              <a:gd name="adj" fmla="val 8000"/>
            </a:avLst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102352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文件格式转换</a:t>
            </a:r>
            <a:endParaRPr sz="17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206240" y="5084064"/>
            <a:ext cx="71323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docx / xlsx / pptx / pdf / png 等多格式生成与互转。</a:t>
            </a:r>
            <a:endParaRPr sz="135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6583680"/>
            <a:ext cx="7315200" cy="26797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</a:rPr>
              <a:t>I-DO · 智能办公伙伴介绍</a:t>
            </a:r>
            <a:endParaRPr sz="10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0607040" y="658368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</a:rPr>
              <a:t>07</a:t>
            </a:r>
            <a:endParaRPr sz="10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能力详解 ④  专业工具集成（MCP）</a:t>
            </a:r>
            <a:endParaRPr sz="3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539496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D8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691640"/>
            <a:ext cx="1005840" cy="1005840"/>
          </a:xfrm>
          <a:prstGeom prst="roundRect">
            <a:avLst>
              <a:gd name="adj" fmla="val 8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05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amap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965960" y="1691640"/>
            <a:ext cx="374903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高德地图</a:t>
            </a:r>
            <a:endParaRPr sz="19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965960" y="2240280"/>
            <a:ext cx="37947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天气查询 · 路径规划 · POI 搜索 · 地理编码</a:t>
            </a:r>
            <a:endParaRPr sz="13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263640" y="1463040"/>
            <a:ext cx="539496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D8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92240" y="1691640"/>
            <a:ext cx="1005840" cy="1005840"/>
          </a:xfrm>
          <a:prstGeom prst="roundRect">
            <a:avLst>
              <a:gd name="adj" fmla="val 8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691640"/>
            <a:ext cx="1005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multim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680960" y="1691640"/>
            <a:ext cx="374903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多模态视觉</a:t>
            </a:r>
            <a:endParaRPr sz="19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680960" y="2240280"/>
            <a:ext cx="37947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图片理解 · OCR 文字提取 · 语音转写 · 视频分析</a:t>
            </a:r>
            <a:endParaRPr sz="13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548640" y="3749040"/>
            <a:ext cx="539496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D8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77240" y="3977640"/>
            <a:ext cx="1005840" cy="1005840"/>
          </a:xfrm>
          <a:prstGeom prst="roundRect">
            <a:avLst>
              <a:gd name="adj" fmla="val 8000"/>
            </a:avLst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977640"/>
            <a:ext cx="1005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lhsc-m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965960" y="3977640"/>
            <a:ext cx="374903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业务系统对接</a:t>
            </a:r>
            <a:endParaRPr sz="19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965960" y="4526280"/>
            <a:ext cx="37947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商品 / 库存 / 出入库数据导出 · 报表生成</a:t>
            </a:r>
            <a:endParaRPr sz="13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263640" y="3749040"/>
            <a:ext cx="539496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D8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492240" y="3977640"/>
            <a:ext cx="1005840" cy="1005840"/>
          </a:xfrm>
          <a:prstGeom prst="roundRect">
            <a:avLst>
              <a:gd name="adj" fmla="val 8000"/>
            </a:avLst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3977640"/>
            <a:ext cx="1005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A2A</a:t>
            </a:r>
            <a:endParaRPr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680960" y="3977640"/>
            <a:ext cx="374903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远程 Agent</a:t>
            </a:r>
            <a:endParaRPr sz="19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680960" y="4526280"/>
            <a:ext cx="37947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跨 Agent 任务编排与协同执行</a:t>
            </a:r>
            <a:endParaRPr sz="13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6583680"/>
            <a:ext cx="7315200" cy="26797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</a:rPr>
              <a:t>I-DO · 智能办公伙伴介绍</a:t>
            </a:r>
            <a:endParaRPr sz="10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0607040" y="658368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</a:rPr>
              <a:t>08</a:t>
            </a:r>
            <a:endParaRPr sz="10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03  可处理的工作类型</a:t>
            </a:r>
            <a:endParaRPr sz="3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120700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</a:rPr>
              <a:t>在哪些办公场景可以帮到您</a:t>
            </a:r>
            <a:endParaRPr sz="14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539496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D8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463040"/>
            <a:ext cx="5394960" cy="5029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508760"/>
            <a:ext cx="49377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报告与文书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2960" y="2084832"/>
            <a:ext cx="48463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经营分析报告 · 市场调研报告 · 行业研究报告 · 会议纪要 · 通知 · 方案</a:t>
            </a:r>
            <a:endParaRPr sz="125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263640" y="1463040"/>
            <a:ext cx="539496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D8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463040"/>
            <a:ext cx="5394960" cy="50292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508760"/>
            <a:ext cx="49377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数据与表格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537960" y="2084832"/>
            <a:ext cx="48463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Excel 报表制作 · 数据清洗整理 · 统计分析与测算 · 图表可视化</a:t>
            </a:r>
            <a:endParaRPr sz="125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548640" y="3154680"/>
            <a:ext cx="539496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D8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154680"/>
            <a:ext cx="5394960" cy="5029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200400"/>
            <a:ext cx="49377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演示与展示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22960" y="3776472"/>
            <a:ext cx="48463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PPT 演示文稿 · 汇报材料 · 宣传材料 · 培训课件</a:t>
            </a:r>
            <a:endParaRPr sz="125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263640" y="3154680"/>
            <a:ext cx="539496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D8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63640" y="3154680"/>
            <a:ext cx="5394960" cy="50292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3200400"/>
            <a:ext cx="49377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检索与核查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537960" y="3776472"/>
            <a:ext cx="48463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网络信息搜索 · 事实核查 · 资料汇编 · 政策/竞品信息</a:t>
            </a:r>
            <a:endParaRPr sz="125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548640" y="4846320"/>
            <a:ext cx="1106424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D8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4846320"/>
            <a:ext cx="11064240" cy="502920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4892040"/>
            <a:ext cx="106070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专业查询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22960" y="5468112"/>
            <a:ext cx="105156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天气/地图导航 · 图片识别 · OCR · 语音转写 · 视频内容分析</a:t>
            </a:r>
            <a:endParaRPr sz="125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6583680"/>
            <a:ext cx="7315200" cy="26797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</a:rPr>
              <a:t>I-DO · 智能办公伙伴介绍</a:t>
            </a:r>
            <a:endParaRPr sz="10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0607040" y="658368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</a:rPr>
              <a:t>09</a:t>
            </a:r>
            <a:endParaRPr sz="10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04  办公场景协作模式</a:t>
            </a:r>
            <a:endParaRPr sz="3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120700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</a:rPr>
              <a:t>我们怎么高效合作</a:t>
            </a:r>
            <a:endParaRPr sz="14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11064240" cy="896112"/>
          </a:xfrm>
          <a:prstGeom prst="roundRect">
            <a:avLst>
              <a:gd name="adj" fmla="val 8000"/>
            </a:avLst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5486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F39C12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sz="2000" b="1">
              <a:solidFill>
                <a:srgbClr val="F39C1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463040" y="1554480"/>
            <a:ext cx="28346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对话式任务下达</a:t>
            </a:r>
            <a:endParaRPr sz="16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480560" y="1536192"/>
            <a:ext cx="68580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用自然语言描述需求，直接执行并交付成果；支持上传 Excel / Word / PDF / 图片 / 音频附件。</a:t>
            </a:r>
            <a:endParaRPr sz="125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48640" y="2468880"/>
            <a:ext cx="11064240" cy="896112"/>
          </a:xfrm>
          <a:prstGeom prst="roundRect">
            <a:avLst>
              <a:gd name="adj" fmla="val 8000"/>
            </a:avLst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560320"/>
            <a:ext cx="5486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F39C12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sz="2000" b="1">
              <a:solidFill>
                <a:srgbClr val="F39C1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463040" y="2560320"/>
            <a:ext cx="28346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结构化成果交付</a:t>
            </a:r>
            <a:endParaRPr sz="16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480560" y="2542032"/>
            <a:ext cx="68580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多格式交付：docx 报告 · xlsx 数据 · pptx 演示 · png 图表 · pdf 文档，语义化命名、可独立使用。</a:t>
            </a:r>
            <a:endParaRPr sz="125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548640" y="3474720"/>
            <a:ext cx="11064240" cy="896112"/>
          </a:xfrm>
          <a:prstGeom prst="roundRect">
            <a:avLst>
              <a:gd name="adj" fmla="val 8000"/>
            </a:avLst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566160"/>
            <a:ext cx="5486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F39C12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sz="2000" b="1">
              <a:solidFill>
                <a:srgbClr val="F39C1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463040" y="3566160"/>
            <a:ext cx="28346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主动超越预期</a:t>
            </a:r>
            <a:endParaRPr sz="16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480560" y="3547872"/>
            <a:ext cx="68580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在基本需求之上补充图表、数据字典、参考文献等增值内容；交付前自检完整性与格式。</a:t>
            </a:r>
            <a:endParaRPr sz="125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48640" y="4480560"/>
            <a:ext cx="11064240" cy="896112"/>
          </a:xfrm>
          <a:prstGeom prst="roundRect">
            <a:avLst>
              <a:gd name="adj" fmla="val 8000"/>
            </a:avLst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572000"/>
            <a:ext cx="5486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F39C12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sz="2000" b="1">
              <a:solidFill>
                <a:srgbClr val="F39C1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463040" y="4572000"/>
            <a:ext cx="28346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长任务与异步协作</a:t>
            </a:r>
            <a:endParaRPr sz="16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480560" y="4553712"/>
            <a:ext cx="68580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长耗时任务转入后台异步执行、进度可查；批量任务合并处理，保障效率与完整。</a:t>
            </a:r>
            <a:endParaRPr sz="125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548640" y="5486400"/>
            <a:ext cx="11064240" cy="896112"/>
          </a:xfrm>
          <a:prstGeom prst="roundRect">
            <a:avLst>
              <a:gd name="adj" fmla="val 8000"/>
            </a:avLst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5577840"/>
            <a:ext cx="5486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F39C12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endParaRPr sz="2000" b="1">
              <a:solidFill>
                <a:srgbClr val="F39C1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463040" y="5577840"/>
            <a:ext cx="28346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边界与澄清</a:t>
            </a:r>
            <a:endParaRPr sz="16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480560" y="5559552"/>
            <a:ext cx="68580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关键参数缺失时主动询问确认；数据不完整时如实告知覆盖范围与局限性。</a:t>
            </a:r>
            <a:endParaRPr sz="125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6583680"/>
            <a:ext cx="7315200" cy="26797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</a:rPr>
              <a:t>I-DO · 智能办公伙伴介绍</a:t>
            </a:r>
            <a:endParaRPr sz="10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0607040" y="658368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</a:rPr>
              <a:t>10</a:t>
            </a:r>
            <a:endParaRPr sz="10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典型协作流程</a:t>
            </a:r>
            <a:endParaRPr sz="3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120700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</a:rPr>
              <a:t>五步闭环</a:t>
            </a:r>
            <a:endParaRPr sz="14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ounded Rectangle 5"/>
          <p:cNvSpPr/>
          <p:nvPr>
            <p:custDataLst>
              <p:tags r:id="rId1"/>
            </p:custDataLst>
          </p:nvPr>
        </p:nvSpPr>
        <p:spPr>
          <a:xfrm>
            <a:off x="548640" y="1920240"/>
            <a:ext cx="1920240" cy="2377440"/>
          </a:xfrm>
          <a:prstGeom prst="roundRect">
            <a:avLst>
              <a:gd name="adj" fmla="val 8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>
            <p:custDataLst>
              <p:tags r:id="rId2"/>
            </p:custDataLst>
          </p:nvPr>
        </p:nvSpPr>
        <p:spPr>
          <a:xfrm>
            <a:off x="1188720" y="2103120"/>
            <a:ext cx="640080" cy="640080"/>
          </a:xfrm>
          <a:prstGeom prst="ellipse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>
            <p:custDataLst>
              <p:tags r:id="rId3"/>
            </p:custDataLst>
          </p:nvPr>
        </p:nvSpPr>
        <p:spPr>
          <a:xfrm>
            <a:off x="548640" y="2121408"/>
            <a:ext cx="19202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sz="2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>
            <p:custDataLst>
              <p:tags r:id="rId4"/>
            </p:custDataLst>
          </p:nvPr>
        </p:nvSpPr>
        <p:spPr>
          <a:xfrm>
            <a:off x="594360" y="2880360"/>
            <a:ext cx="1828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提出需求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>
            <p:custDataLst>
              <p:tags r:id="rId5"/>
            </p:custDataLst>
          </p:nvPr>
        </p:nvSpPr>
        <p:spPr>
          <a:xfrm>
            <a:off x="594360" y="3429000"/>
            <a:ext cx="1828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050" b="0">
                <a:solidFill>
                  <a:srgbClr val="BDD7EE"/>
                </a:solidFill>
                <a:latin typeface="微软雅黑" panose="020B0503020204020204" charset="-122"/>
                <a:ea typeface="微软雅黑" panose="020B0503020204020204" charset="-122"/>
              </a:rPr>
              <a:t>自然语言描述任务目标</a:t>
            </a:r>
            <a:endParaRPr sz="1050" b="0">
              <a:solidFill>
                <a:srgbClr val="BDD7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Right Arrow 10"/>
          <p:cNvSpPr/>
          <p:nvPr>
            <p:custDataLst>
              <p:tags r:id="rId6"/>
            </p:custDataLst>
          </p:nvPr>
        </p:nvSpPr>
        <p:spPr>
          <a:xfrm>
            <a:off x="2514600" y="2880360"/>
            <a:ext cx="292608" cy="457200"/>
          </a:xfrm>
          <a:prstGeom prst="rightArrow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>
            <p:custDataLst>
              <p:tags r:id="rId7"/>
            </p:custDataLst>
          </p:nvPr>
        </p:nvSpPr>
        <p:spPr>
          <a:xfrm>
            <a:off x="2852928" y="1920240"/>
            <a:ext cx="1920240" cy="2377440"/>
          </a:xfrm>
          <a:prstGeom prst="roundRect">
            <a:avLst>
              <a:gd name="adj" fmla="val 8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>
            <p:custDataLst>
              <p:tags r:id="rId8"/>
            </p:custDataLst>
          </p:nvPr>
        </p:nvSpPr>
        <p:spPr>
          <a:xfrm>
            <a:off x="3493008" y="2103120"/>
            <a:ext cx="640080" cy="640080"/>
          </a:xfrm>
          <a:prstGeom prst="ellipse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>
            <p:custDataLst>
              <p:tags r:id="rId9"/>
            </p:custDataLst>
          </p:nvPr>
        </p:nvSpPr>
        <p:spPr>
          <a:xfrm>
            <a:off x="2852928" y="2121408"/>
            <a:ext cx="19202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sz="2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>
            <p:custDataLst>
              <p:tags r:id="rId10"/>
            </p:custDataLst>
          </p:nvPr>
        </p:nvSpPr>
        <p:spPr>
          <a:xfrm>
            <a:off x="2898648" y="2880360"/>
            <a:ext cx="1828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任务分析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>
            <p:custDataLst>
              <p:tags r:id="rId11"/>
            </p:custDataLst>
          </p:nvPr>
        </p:nvSpPr>
        <p:spPr>
          <a:xfrm>
            <a:off x="2898648" y="3429000"/>
            <a:ext cx="1828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050" b="0">
                <a:solidFill>
                  <a:srgbClr val="BDD7EE"/>
                </a:solidFill>
                <a:latin typeface="微软雅黑" panose="020B0503020204020204" charset="-122"/>
                <a:ea typeface="微软雅黑" panose="020B0503020204020204" charset="-122"/>
              </a:rPr>
              <a:t>匹配能力与工具方案</a:t>
            </a:r>
            <a:endParaRPr sz="1050" b="0">
              <a:solidFill>
                <a:srgbClr val="BDD7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Right Arrow 16"/>
          <p:cNvSpPr/>
          <p:nvPr>
            <p:custDataLst>
              <p:tags r:id="rId12"/>
            </p:custDataLst>
          </p:nvPr>
        </p:nvSpPr>
        <p:spPr>
          <a:xfrm>
            <a:off x="4818888" y="2880360"/>
            <a:ext cx="292608" cy="457200"/>
          </a:xfrm>
          <a:prstGeom prst="rightArrow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>
            <p:custDataLst>
              <p:tags r:id="rId13"/>
            </p:custDataLst>
          </p:nvPr>
        </p:nvSpPr>
        <p:spPr>
          <a:xfrm>
            <a:off x="5157216" y="1920240"/>
            <a:ext cx="1920240" cy="2377440"/>
          </a:xfrm>
          <a:prstGeom prst="roundRect">
            <a:avLst>
              <a:gd name="adj" fmla="val 8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>
            <p:custDataLst>
              <p:tags r:id="rId14"/>
            </p:custDataLst>
          </p:nvPr>
        </p:nvSpPr>
        <p:spPr>
          <a:xfrm>
            <a:off x="5797296" y="2103120"/>
            <a:ext cx="640080" cy="640080"/>
          </a:xfrm>
          <a:prstGeom prst="ellipse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>
            <p:custDataLst>
              <p:tags r:id="rId15"/>
            </p:custDataLst>
          </p:nvPr>
        </p:nvSpPr>
        <p:spPr>
          <a:xfrm>
            <a:off x="5157216" y="2121408"/>
            <a:ext cx="19202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sz="2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>
            <p:custDataLst>
              <p:tags r:id="rId16"/>
            </p:custDataLst>
          </p:nvPr>
        </p:nvSpPr>
        <p:spPr>
          <a:xfrm>
            <a:off x="5202936" y="2880360"/>
            <a:ext cx="1828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执行处理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>
            <p:custDataLst>
              <p:tags r:id="rId17"/>
            </p:custDataLst>
          </p:nvPr>
        </p:nvSpPr>
        <p:spPr>
          <a:xfrm>
            <a:off x="5202936" y="3429000"/>
            <a:ext cx="1828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050" b="0">
                <a:solidFill>
                  <a:srgbClr val="BDD7EE"/>
                </a:solidFill>
                <a:latin typeface="微软雅黑" panose="020B0503020204020204" charset="-122"/>
                <a:ea typeface="微软雅黑" panose="020B0503020204020204" charset="-122"/>
              </a:rPr>
              <a:t>工具调用 · 脚本运行 · 交叉验证</a:t>
            </a:r>
            <a:endParaRPr sz="1050" b="0">
              <a:solidFill>
                <a:srgbClr val="BDD7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Right Arrow 22"/>
          <p:cNvSpPr/>
          <p:nvPr>
            <p:custDataLst>
              <p:tags r:id="rId18"/>
            </p:custDataLst>
          </p:nvPr>
        </p:nvSpPr>
        <p:spPr>
          <a:xfrm>
            <a:off x="7123176" y="2880360"/>
            <a:ext cx="292608" cy="457200"/>
          </a:xfrm>
          <a:prstGeom prst="rightArrow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>
            <p:custDataLst>
              <p:tags r:id="rId19"/>
            </p:custDataLst>
          </p:nvPr>
        </p:nvSpPr>
        <p:spPr>
          <a:xfrm>
            <a:off x="7461504" y="1920240"/>
            <a:ext cx="1920240" cy="2377440"/>
          </a:xfrm>
          <a:prstGeom prst="roundRect">
            <a:avLst>
              <a:gd name="adj" fmla="val 8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>
            <p:custDataLst>
              <p:tags r:id="rId20"/>
            </p:custDataLst>
          </p:nvPr>
        </p:nvSpPr>
        <p:spPr>
          <a:xfrm>
            <a:off x="8101584" y="2103120"/>
            <a:ext cx="640080" cy="640080"/>
          </a:xfrm>
          <a:prstGeom prst="ellipse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>
            <p:custDataLst>
              <p:tags r:id="rId21"/>
            </p:custDataLst>
          </p:nvPr>
        </p:nvSpPr>
        <p:spPr>
          <a:xfrm>
            <a:off x="7461504" y="2121408"/>
            <a:ext cx="19202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sz="2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>
            <p:custDataLst>
              <p:tags r:id="rId22"/>
            </p:custDataLst>
          </p:nvPr>
        </p:nvSpPr>
        <p:spPr>
          <a:xfrm>
            <a:off x="7507224" y="2880360"/>
            <a:ext cx="1828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成果交付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>
            <p:custDataLst>
              <p:tags r:id="rId23"/>
            </p:custDataLst>
          </p:nvPr>
        </p:nvSpPr>
        <p:spPr>
          <a:xfrm>
            <a:off x="7507224" y="3429000"/>
            <a:ext cx="1828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050" b="0">
                <a:solidFill>
                  <a:srgbClr val="BDD7EE"/>
                </a:solidFill>
                <a:latin typeface="微软雅黑" panose="020B0503020204020204" charset="-122"/>
                <a:ea typeface="微软雅黑" panose="020B0503020204020204" charset="-122"/>
              </a:rPr>
              <a:t>多格式文件 · 结构化说明</a:t>
            </a:r>
            <a:endParaRPr sz="1050" b="0">
              <a:solidFill>
                <a:srgbClr val="BDD7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Right Arrow 28"/>
          <p:cNvSpPr/>
          <p:nvPr>
            <p:custDataLst>
              <p:tags r:id="rId24"/>
            </p:custDataLst>
          </p:nvPr>
        </p:nvSpPr>
        <p:spPr>
          <a:xfrm>
            <a:off x="9427464" y="2880360"/>
            <a:ext cx="292608" cy="457200"/>
          </a:xfrm>
          <a:prstGeom prst="rightArrow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>
            <p:custDataLst>
              <p:tags r:id="rId25"/>
            </p:custDataLst>
          </p:nvPr>
        </p:nvSpPr>
        <p:spPr>
          <a:xfrm>
            <a:off x="9765792" y="1920240"/>
            <a:ext cx="1920240" cy="2377440"/>
          </a:xfrm>
          <a:prstGeom prst="roundRect">
            <a:avLst>
              <a:gd name="adj" fmla="val 8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>
            <p:custDataLst>
              <p:tags r:id="rId26"/>
            </p:custDataLst>
          </p:nvPr>
        </p:nvSpPr>
        <p:spPr>
          <a:xfrm>
            <a:off x="10405872" y="2103120"/>
            <a:ext cx="640080" cy="640080"/>
          </a:xfrm>
          <a:prstGeom prst="ellipse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>
            <p:custDataLst>
              <p:tags r:id="rId27"/>
            </p:custDataLst>
          </p:nvPr>
        </p:nvSpPr>
        <p:spPr>
          <a:xfrm>
            <a:off x="9765792" y="2121408"/>
            <a:ext cx="19202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endParaRPr sz="2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>
            <p:custDataLst>
              <p:tags r:id="rId28"/>
            </p:custDataLst>
          </p:nvPr>
        </p:nvSpPr>
        <p:spPr>
          <a:xfrm>
            <a:off x="9811512" y="2880360"/>
            <a:ext cx="1828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反馈优化</a:t>
            </a:r>
            <a:endParaRPr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>
            <p:custDataLst>
              <p:tags r:id="rId29"/>
            </p:custDataLst>
          </p:nvPr>
        </p:nvSpPr>
        <p:spPr>
          <a:xfrm>
            <a:off x="9811512" y="3429000"/>
            <a:ext cx="1828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050" b="0">
                <a:solidFill>
                  <a:srgbClr val="BDD7EE"/>
                </a:solidFill>
                <a:latin typeface="微软雅黑" panose="020B0503020204020204" charset="-122"/>
                <a:ea typeface="微软雅黑" panose="020B0503020204020204" charset="-122"/>
              </a:rPr>
              <a:t>按反馈迭代完善成果</a:t>
            </a:r>
            <a:endParaRPr sz="1050" b="0">
              <a:solidFill>
                <a:srgbClr val="BDD7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548640" y="484632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全程透明可追溯：执行过程记录关键数据、主动汇报进度，重要决策前与您确认。</a:t>
            </a:r>
            <a:endParaRPr sz="15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6583680"/>
            <a:ext cx="7315200" cy="26797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</a:rPr>
              <a:t>I-DO · 智能办公伙伴介绍</a:t>
            </a:r>
            <a:endParaRPr sz="10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10607040" y="658368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</a:rPr>
              <a:t>11</a:t>
            </a:r>
            <a:endParaRPr sz="10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05  总结与展望</a:t>
            </a:r>
            <a:endParaRPr sz="3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120700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</a:rPr>
              <a:t>价值承诺与下一步</a:t>
            </a:r>
            <a:endParaRPr sz="14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11064240" cy="896112"/>
          </a:xfrm>
          <a:prstGeom prst="roundRect">
            <a:avLst>
              <a:gd name="adj" fmla="val 8000"/>
            </a:avLst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32918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亲自执行 · 直接交付</a:t>
            </a:r>
            <a:endParaRPr sz="16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480560" y="1536192"/>
            <a:ext cx="68580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不做“建议清单”，而是把最终成果直接交到您手上。</a:t>
            </a:r>
            <a:endParaRPr sz="13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48640" y="2468880"/>
            <a:ext cx="11064240" cy="896112"/>
          </a:xfrm>
          <a:prstGeom prst="roundRect">
            <a:avLst>
              <a:gd name="adj" fmla="val 8000"/>
            </a:avLst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560320"/>
            <a:ext cx="32918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专业质量 · 结构化呈现</a:t>
            </a:r>
            <a:endParaRPr sz="16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480560" y="2542032"/>
            <a:ext cx="68580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成果结构化、可量化、有洞察，附数据字典与参考文献。</a:t>
            </a:r>
            <a:endParaRPr sz="13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48640" y="3474720"/>
            <a:ext cx="11064240" cy="896112"/>
          </a:xfrm>
          <a:prstGeom prst="roundRect">
            <a:avLst>
              <a:gd name="adj" fmla="val 8000"/>
            </a:avLst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566160"/>
            <a:ext cx="32918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全链路覆盖</a:t>
            </a:r>
            <a:endParaRPr sz="16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480560" y="3547872"/>
            <a:ext cx="68580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从信息到洞察、从数据到决策，一站式智能服务。</a:t>
            </a:r>
            <a:endParaRPr sz="13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48640" y="461772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展望</a:t>
            </a:r>
            <a:endParaRPr sz="18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22960" y="5120640"/>
            <a:ext cx="3566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▎ 持续扩展专业工具与业务系统集成</a:t>
            </a:r>
            <a:endParaRPr sz="13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590288" y="5120640"/>
            <a:ext cx="3566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▎ 面向更多办公场景提供定制化服务</a:t>
            </a:r>
            <a:endParaRPr sz="13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357616" y="5120640"/>
            <a:ext cx="3566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▎ 长期协作沉淀领域知识，越用越懂您</a:t>
            </a:r>
            <a:endParaRPr sz="13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6583680"/>
            <a:ext cx="7315200" cy="26797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</a:rPr>
              <a:t>I-DO · 智能办公伙伴介绍</a:t>
            </a:r>
            <a:endParaRPr sz="10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0607040" y="658368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</a:rPr>
              <a:t>12</a:t>
            </a:r>
            <a:endParaRPr sz="10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4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期待与您并肩协作</a:t>
            </a:r>
            <a:endParaRPr sz="4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14400" y="3291840"/>
            <a:ext cx="10332720" cy="4451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0">
                <a:solidFill>
                  <a:srgbClr val="BDD7EE"/>
                </a:solidFill>
                <a:latin typeface="微软雅黑" panose="020B0503020204020204" charset="-122"/>
                <a:ea typeface="微软雅黑" panose="020B0503020204020204" charset="-122"/>
              </a:rPr>
              <a:t>I-DO —— 让办公更高效，让决策更智慧</a:t>
            </a:r>
            <a:endParaRPr sz="2000" b="0">
              <a:solidFill>
                <a:srgbClr val="BDD7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332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F39C12"/>
                </a:solidFill>
                <a:latin typeface="微软雅黑" panose="020B0503020204020204" charset="-122"/>
                <a:ea typeface="微软雅黑" panose="020B0503020204020204" charset="-122"/>
              </a:rPr>
              <a:t>只需一句话，剩下的交给我</a:t>
            </a:r>
            <a:endParaRPr sz="1800" b="1">
              <a:solidFill>
                <a:srgbClr val="F39C1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14400" y="5760720"/>
            <a:ext cx="10332720" cy="33845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9DC3E6"/>
                </a:solidFill>
                <a:latin typeface="微软雅黑" panose="020B0503020204020204" charset="-122"/>
                <a:ea typeface="微软雅黑" panose="020B0503020204020204" charset="-122"/>
              </a:rPr>
              <a:t>YES-IDO  ·  I-DO</a:t>
            </a:r>
            <a:endParaRPr sz="1400" b="0">
              <a:solidFill>
                <a:srgbClr val="9DC3E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57.12000000000006,&quot;left&quot;:86.4,&quot;top&quot;:154.8,&quot;width&quot;:460.8}"/>
</p:tagLst>
</file>

<file path=ppt/tags/tag2.xml><?xml version="1.0" encoding="utf-8"?>
<p:tagLst xmlns:p="http://schemas.openxmlformats.org/presentationml/2006/main">
  <p:tag name="KSO_WM_DIAGRAM_VIRTUALLY_FRAME" val="{&quot;height&quot;:357.12000000000006,&quot;left&quot;:86.4,&quot;top&quot;:154.8,&quot;width&quot;:460.8}"/>
</p:tagLst>
</file>

<file path=ppt/tags/tag3.xml><?xml version="1.0" encoding="utf-8"?>
<p:tagLst xmlns:p="http://schemas.openxmlformats.org/presentationml/2006/main">
  <p:tag name="KSO_WM_DIAGRAM_VIRTUALLY_FRAME" val="{&quot;height&quot;:357.12000000000006,&quot;left&quot;:86.4,&quot;top&quot;:154.8,&quot;width&quot;:460.8}"/>
</p:tagLst>
</file>

<file path=ppt/tags/tag4.xml><?xml version="1.0" encoding="utf-8"?>
<p:tagLst xmlns:p="http://schemas.openxmlformats.org/presentationml/2006/main">
  <p:tag name="KSO_WM_DIAGRAM_VIRTUALLY_FRAME" val="{&quot;height&quot;:357.12000000000006,&quot;left&quot;:86.4,&quot;top&quot;:154.8,&quot;width&quot;:460.8}"/>
</p:tagLst>
</file>

<file path=ppt/tags/tag5.xml><?xml version="1.0" encoding="utf-8"?>
<p:tagLst xmlns:p="http://schemas.openxmlformats.org/presentationml/2006/main">
  <p:tag name="KSO_WM_DIAGRAM_VIRTUALLY_FRAME" val="{&quot;height&quot;:357.12000000000006,&quot;left&quot;:86.4,&quot;top&quot;:154.8,&quot;width&quot;:460.8}"/>
</p:tagLst>
</file>

<file path=ppt/tags/tag6.xml><?xml version="1.0" encoding="utf-8"?>
<p:tagLst xmlns:p="http://schemas.openxmlformats.org/presentationml/2006/main">
  <p:tag name="KSO_WM_DIAGRAM_VIRTUALLY_FRAME" val="{&quot;height&quot;:357.12000000000006,&quot;left&quot;:86.4,&quot;top&quot;:154.8,&quot;width&quot;:460.8}"/>
</p:tagLst>
</file>

<file path=ppt/tags/tag7.xml><?xml version="1.0" encoding="utf-8"?>
<p:tagLst xmlns:p="http://schemas.openxmlformats.org/presentationml/2006/main">
  <p:tag name="KSO_WM_DIAGRAM_VIRTUALLY_FRAME" val="{&quot;height&quot;:357.12000000000006,&quot;left&quot;:86.4,&quot;top&quot;:154.8,&quot;width&quot;:460.8}"/>
</p:tagLst>
</file>

<file path=ppt/tags/tag8.xml><?xml version="1.0" encoding="utf-8"?>
<p:tagLst xmlns:p="http://schemas.openxmlformats.org/presentationml/2006/main">
  <p:tag name="KSO_WM_DIAGRAM_VIRTUALLY_FRAME" val="{&quot;height&quot;:357.12000000000006,&quot;left&quot;:86.4,&quot;top&quot;:154.8,&quot;width&quot;:460.8}"/>
</p:tagLst>
</file>

<file path=ppt/tags/tag9.xml><?xml version="1.0" encoding="utf-8"?>
<p:tagLst xmlns:p="http://schemas.openxmlformats.org/presentationml/2006/main">
  <p:tag name="KSO_WM_DIAGRAM_VIRTUALLY_FRAME" val="{&quot;height&quot;:357.12000000000006,&quot;left&quot;:86.4,&quot;top&quot;:154.8,&quot;width&quot;:460.8}"/>
</p:tagLst>
</file>

<file path=ppt/tags/tag10.xml><?xml version="1.0" encoding="utf-8"?>
<p:tagLst xmlns:p="http://schemas.openxmlformats.org/presentationml/2006/main">
  <p:tag name="KSO_WM_DIAGRAM_VIRTUALLY_FRAME" val="{&quot;height&quot;:357.12000000000006,&quot;left&quot;:86.4,&quot;top&quot;:154.8,&quot;width&quot;:460.8}"/>
</p:tagLst>
</file>

<file path=ppt/tags/tag11.xml><?xml version="1.0" encoding="utf-8"?>
<p:tagLst xmlns:p="http://schemas.openxmlformats.org/presentationml/2006/main">
  <p:tag name="KSO_WM_DIAGRAM_VIRTUALLY_FRAME" val="{&quot;height&quot;:187.2,&quot;left&quot;:43.2,&quot;top&quot;:151.2,&quot;width&quot;:876.9599999999998}"/>
</p:tagLst>
</file>

<file path=ppt/tags/tag12.xml><?xml version="1.0" encoding="utf-8"?>
<p:tagLst xmlns:p="http://schemas.openxmlformats.org/presentationml/2006/main">
  <p:tag name="KSO_WM_DIAGRAM_VIRTUALLY_FRAME" val="{&quot;height&quot;:187.2,&quot;left&quot;:43.2,&quot;top&quot;:151.2,&quot;width&quot;:876.9599999999998}"/>
</p:tagLst>
</file>

<file path=ppt/tags/tag13.xml><?xml version="1.0" encoding="utf-8"?>
<p:tagLst xmlns:p="http://schemas.openxmlformats.org/presentationml/2006/main">
  <p:tag name="KSO_WM_DIAGRAM_VIRTUALLY_FRAME" val="{&quot;height&quot;:187.2,&quot;left&quot;:43.2,&quot;top&quot;:151.2,&quot;width&quot;:876.9599999999998}"/>
</p:tagLst>
</file>

<file path=ppt/tags/tag14.xml><?xml version="1.0" encoding="utf-8"?>
<p:tagLst xmlns:p="http://schemas.openxmlformats.org/presentationml/2006/main">
  <p:tag name="KSO_WM_DIAGRAM_VIRTUALLY_FRAME" val="{&quot;height&quot;:187.2,&quot;left&quot;:43.2,&quot;top&quot;:151.2,&quot;width&quot;:876.9599999999998}"/>
</p:tagLst>
</file>

<file path=ppt/tags/tag15.xml><?xml version="1.0" encoding="utf-8"?>
<p:tagLst xmlns:p="http://schemas.openxmlformats.org/presentationml/2006/main">
  <p:tag name="KSO_WM_DIAGRAM_VIRTUALLY_FRAME" val="{&quot;height&quot;:187.2,&quot;left&quot;:43.2,&quot;top&quot;:151.2,&quot;width&quot;:876.9599999999998}"/>
</p:tagLst>
</file>

<file path=ppt/tags/tag16.xml><?xml version="1.0" encoding="utf-8"?>
<p:tagLst xmlns:p="http://schemas.openxmlformats.org/presentationml/2006/main">
  <p:tag name="KSO_WM_DIAGRAM_VIRTUALLY_FRAME" val="{&quot;height&quot;:187.2,&quot;left&quot;:43.2,&quot;top&quot;:151.2,&quot;width&quot;:876.9599999999998}"/>
</p:tagLst>
</file>

<file path=ppt/tags/tag17.xml><?xml version="1.0" encoding="utf-8"?>
<p:tagLst xmlns:p="http://schemas.openxmlformats.org/presentationml/2006/main">
  <p:tag name="KSO_WM_DIAGRAM_VIRTUALLY_FRAME" val="{&quot;height&quot;:187.2,&quot;left&quot;:43.2,&quot;top&quot;:151.2,&quot;width&quot;:876.9599999999998}"/>
</p:tagLst>
</file>

<file path=ppt/tags/tag18.xml><?xml version="1.0" encoding="utf-8"?>
<p:tagLst xmlns:p="http://schemas.openxmlformats.org/presentationml/2006/main">
  <p:tag name="KSO_WM_DIAGRAM_VIRTUALLY_FRAME" val="{&quot;height&quot;:187.2,&quot;left&quot;:43.2,&quot;top&quot;:151.2,&quot;width&quot;:876.9599999999998}"/>
</p:tagLst>
</file>

<file path=ppt/tags/tag19.xml><?xml version="1.0" encoding="utf-8"?>
<p:tagLst xmlns:p="http://schemas.openxmlformats.org/presentationml/2006/main">
  <p:tag name="KSO_WM_DIAGRAM_VIRTUALLY_FRAME" val="{&quot;height&quot;:187.2,&quot;left&quot;:43.2,&quot;top&quot;:151.2,&quot;width&quot;:876.9599999999998}"/>
</p:tagLst>
</file>

<file path=ppt/tags/tag20.xml><?xml version="1.0" encoding="utf-8"?>
<p:tagLst xmlns:p="http://schemas.openxmlformats.org/presentationml/2006/main">
  <p:tag name="KSO_WM_DIAGRAM_VIRTUALLY_FRAME" val="{&quot;height&quot;:187.2,&quot;left&quot;:43.2,&quot;top&quot;:151.2,&quot;width&quot;:876.9599999999998}"/>
</p:tagLst>
</file>

<file path=ppt/tags/tag21.xml><?xml version="1.0" encoding="utf-8"?>
<p:tagLst xmlns:p="http://schemas.openxmlformats.org/presentationml/2006/main">
  <p:tag name="KSO_WM_DIAGRAM_VIRTUALLY_FRAME" val="{&quot;height&quot;:187.2,&quot;left&quot;:43.2,&quot;top&quot;:151.2,&quot;width&quot;:876.9599999999998}"/>
</p:tagLst>
</file>

<file path=ppt/tags/tag22.xml><?xml version="1.0" encoding="utf-8"?>
<p:tagLst xmlns:p="http://schemas.openxmlformats.org/presentationml/2006/main">
  <p:tag name="KSO_WM_DIAGRAM_VIRTUALLY_FRAME" val="{&quot;height&quot;:187.2,&quot;left&quot;:43.2,&quot;top&quot;:151.2,&quot;width&quot;:876.9599999999998}"/>
</p:tagLst>
</file>

<file path=ppt/tags/tag23.xml><?xml version="1.0" encoding="utf-8"?>
<p:tagLst xmlns:p="http://schemas.openxmlformats.org/presentationml/2006/main">
  <p:tag name="KSO_WM_DIAGRAM_VIRTUALLY_FRAME" val="{&quot;height&quot;:187.2,&quot;left&quot;:43.2,&quot;top&quot;:151.2,&quot;width&quot;:876.9599999999998}"/>
</p:tagLst>
</file>

<file path=ppt/tags/tag24.xml><?xml version="1.0" encoding="utf-8"?>
<p:tagLst xmlns:p="http://schemas.openxmlformats.org/presentationml/2006/main">
  <p:tag name="KSO_WM_DIAGRAM_VIRTUALLY_FRAME" val="{&quot;height&quot;:187.2,&quot;left&quot;:43.2,&quot;top&quot;:151.2,&quot;width&quot;:876.9599999999998}"/>
</p:tagLst>
</file>

<file path=ppt/tags/tag25.xml><?xml version="1.0" encoding="utf-8"?>
<p:tagLst xmlns:p="http://schemas.openxmlformats.org/presentationml/2006/main">
  <p:tag name="KSO_WM_DIAGRAM_VIRTUALLY_FRAME" val="{&quot;height&quot;:187.2,&quot;left&quot;:43.2,&quot;top&quot;:151.2,&quot;width&quot;:876.9599999999998}"/>
</p:tagLst>
</file>

<file path=ppt/tags/tag26.xml><?xml version="1.0" encoding="utf-8"?>
<p:tagLst xmlns:p="http://schemas.openxmlformats.org/presentationml/2006/main">
  <p:tag name="KSO_WM_DIAGRAM_VIRTUALLY_FRAME" val="{&quot;height&quot;:187.2,&quot;left&quot;:43.2,&quot;top&quot;:151.2,&quot;width&quot;:876.9599999999998}"/>
</p:tagLst>
</file>

<file path=ppt/tags/tag27.xml><?xml version="1.0" encoding="utf-8"?>
<p:tagLst xmlns:p="http://schemas.openxmlformats.org/presentationml/2006/main">
  <p:tag name="KSO_WM_DIAGRAM_VIRTUALLY_FRAME" val="{&quot;height&quot;:187.2,&quot;left&quot;:43.2,&quot;top&quot;:151.2,&quot;width&quot;:876.9599999999998}"/>
</p:tagLst>
</file>

<file path=ppt/tags/tag28.xml><?xml version="1.0" encoding="utf-8"?>
<p:tagLst xmlns:p="http://schemas.openxmlformats.org/presentationml/2006/main">
  <p:tag name="KSO_WM_DIAGRAM_VIRTUALLY_FRAME" val="{&quot;height&quot;:187.2,&quot;left&quot;:43.2,&quot;top&quot;:151.2,&quot;width&quot;:876.9599999999998}"/>
</p:tagLst>
</file>

<file path=ppt/tags/tag29.xml><?xml version="1.0" encoding="utf-8"?>
<p:tagLst xmlns:p="http://schemas.openxmlformats.org/presentationml/2006/main">
  <p:tag name="KSO_WM_DIAGRAM_VIRTUALLY_FRAME" val="{&quot;height&quot;:187.2,&quot;left&quot;:43.2,&quot;top&quot;:151.2,&quot;width&quot;:876.9599999999998}"/>
</p:tagLst>
</file>

<file path=ppt/tags/tag30.xml><?xml version="1.0" encoding="utf-8"?>
<p:tagLst xmlns:p="http://schemas.openxmlformats.org/presentationml/2006/main">
  <p:tag name="KSO_WM_DIAGRAM_VIRTUALLY_FRAME" val="{&quot;height&quot;:187.2,&quot;left&quot;:43.2,&quot;top&quot;:151.2,&quot;width&quot;:876.9599999999998}"/>
</p:tagLst>
</file>

<file path=ppt/tags/tag31.xml><?xml version="1.0" encoding="utf-8"?>
<p:tagLst xmlns:p="http://schemas.openxmlformats.org/presentationml/2006/main">
  <p:tag name="KSO_WM_DIAGRAM_VIRTUALLY_FRAME" val="{&quot;height&quot;:187.2,&quot;left&quot;:43.2,&quot;top&quot;:151.2,&quot;width&quot;:876.9599999999998}"/>
</p:tagLst>
</file>

<file path=ppt/tags/tag32.xml><?xml version="1.0" encoding="utf-8"?>
<p:tagLst xmlns:p="http://schemas.openxmlformats.org/presentationml/2006/main">
  <p:tag name="KSO_WM_DIAGRAM_VIRTUALLY_FRAME" val="{&quot;height&quot;:187.2,&quot;left&quot;:43.2,&quot;top&quot;:151.2,&quot;width&quot;:876.9599999999998}"/>
</p:tagLst>
</file>

<file path=ppt/tags/tag33.xml><?xml version="1.0" encoding="utf-8"?>
<p:tagLst xmlns:p="http://schemas.openxmlformats.org/presentationml/2006/main">
  <p:tag name="KSO_WM_DIAGRAM_VIRTUALLY_FRAME" val="{&quot;height&quot;:187.2,&quot;left&quot;:43.2,&quot;top&quot;:151.2,&quot;width&quot;:876.9599999999998}"/>
</p:tagLst>
</file>

<file path=ppt/tags/tag34.xml><?xml version="1.0" encoding="utf-8"?>
<p:tagLst xmlns:p="http://schemas.openxmlformats.org/presentationml/2006/main">
  <p:tag name="KSO_WM_DIAGRAM_VIRTUALLY_FRAME" val="{&quot;height&quot;:187.2,&quot;left&quot;:43.2,&quot;top&quot;:151.2,&quot;width&quot;:876.9599999999998}"/>
</p:tagLst>
</file>

<file path=ppt/tags/tag35.xml><?xml version="1.0" encoding="utf-8"?>
<p:tagLst xmlns:p="http://schemas.openxmlformats.org/presentationml/2006/main">
  <p:tag name="KSO_WM_DIAGRAM_VIRTUALLY_FRAME" val="{&quot;height&quot;:187.2,&quot;left&quot;:43.2,&quot;top&quot;:151.2,&quot;width&quot;:876.9599999999998}"/>
</p:tagLst>
</file>

<file path=ppt/tags/tag36.xml><?xml version="1.0" encoding="utf-8"?>
<p:tagLst xmlns:p="http://schemas.openxmlformats.org/presentationml/2006/main">
  <p:tag name="KSO_WM_DIAGRAM_VIRTUALLY_FRAME" val="{&quot;height&quot;:187.2,&quot;left&quot;:43.2,&quot;top&quot;:151.2,&quot;width&quot;:876.9599999999998}"/>
</p:tagLst>
</file>

<file path=ppt/tags/tag37.xml><?xml version="1.0" encoding="utf-8"?>
<p:tagLst xmlns:p="http://schemas.openxmlformats.org/presentationml/2006/main">
  <p:tag name="KSO_WM_DIAGRAM_VIRTUALLY_FRAME" val="{&quot;height&quot;:187.2,&quot;left&quot;:43.2,&quot;top&quot;:151.2,&quot;width&quot;:876.9599999999998}"/>
</p:tagLst>
</file>

<file path=ppt/tags/tag38.xml><?xml version="1.0" encoding="utf-8"?>
<p:tagLst xmlns:p="http://schemas.openxmlformats.org/presentationml/2006/main">
  <p:tag name="KSO_WM_DIAGRAM_VIRTUALLY_FRAME" val="{&quot;height&quot;:187.2,&quot;left&quot;:43.2,&quot;top&quot;:151.2,&quot;width&quot;:876.9599999999998}"/>
</p:tagLst>
</file>

<file path=ppt/tags/tag39.xml><?xml version="1.0" encoding="utf-8"?>
<p:tagLst xmlns:p="http://schemas.openxmlformats.org/presentationml/2006/main">
  <p:tag name="KSO_WM_DIAGRAM_VIRTUALLY_FRAME" val="{&quot;height&quot;:187.2,&quot;left&quot;:43.2,&quot;top&quot;:151.2,&quot;width&quot;:876.9599999999998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2503</Words>
  <Application>WPS 演示</Application>
  <PresentationFormat>On-screen Show (4:3)</PresentationFormat>
  <Paragraphs>348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1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魏魏家爸比</cp:lastModifiedBy>
  <cp:revision>2</cp:revision>
  <dcterms:created xsi:type="dcterms:W3CDTF">2013-01-27T09:14:00Z</dcterms:created>
  <dcterms:modified xsi:type="dcterms:W3CDTF">2026-08-05T08:32:41Z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65E8E991E3EA4B048F86C4D43B6D8CB7_12</vt:lpwstr>
  </property>
  <property fmtid="{D5CDD505-2E9C-101B-9397-08002B2CF9AE}" pid="3" name="KSOProductBuildVer">
    <vt:lpwstr>2052-12.1.0.26895</vt:lpwstr>
  </property>
</Properties>
</file>